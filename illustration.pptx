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67320" cy="12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7F2D94-AAFF-457F-BB8F-E58E9A1D41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67320" cy="12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6886800"/>
            <a:ext cx="3190680" cy="5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6886800"/>
            <a:ext cx="2343960" cy="5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AC7509-E4A8-46BB-B69C-486AB4FF8B14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6886800"/>
            <a:ext cx="2343960" cy="5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1.png"/><Relationship Id="rId9" Type="http://schemas.openxmlformats.org/officeDocument/2006/relationships/image" Target="../media/image1.png"/><Relationship Id="rId10" Type="http://schemas.openxmlformats.org/officeDocument/2006/relationships/image" Target="../media/image1.png"/><Relationship Id="rId1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2329560" y="819000"/>
            <a:ext cx="9925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phenotype dataset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1841760" y="790920"/>
            <a:ext cx="429480" cy="429480"/>
          </a:xfrm>
          <a:prstGeom prst="rect">
            <a:avLst/>
          </a:prstGeom>
          <a:ln w="0">
            <a:noFill/>
          </a:ln>
        </p:spPr>
      </p:pic>
      <p:sp>
        <p:nvSpPr>
          <p:cNvPr id="9" name=""/>
          <p:cNvSpPr/>
          <p:nvPr/>
        </p:nvSpPr>
        <p:spPr>
          <a:xfrm>
            <a:off x="1841760" y="955440"/>
            <a:ext cx="426240" cy="192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800" spc="-1" strike="noStrike">
                <a:solidFill>
                  <a:srgbClr val="ffffff"/>
                </a:solidFill>
                <a:latin typeface="DejaVu Sans"/>
                <a:ea typeface="DejaVu Sans"/>
              </a:rPr>
              <a:t>tsv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2323800" y="315360"/>
            <a:ext cx="126576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genomic profils for modeling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" descr=""/>
          <p:cNvPicPr/>
          <p:nvPr/>
        </p:nvPicPr>
        <p:blipFill>
          <a:blip r:embed="rId2"/>
          <a:stretch/>
        </p:blipFill>
        <p:spPr>
          <a:xfrm>
            <a:off x="1842120" y="287280"/>
            <a:ext cx="429480" cy="429480"/>
          </a:xfrm>
          <a:prstGeom prst="rect">
            <a:avLst/>
          </a:prstGeom>
          <a:ln w="0">
            <a:noFill/>
          </a:ln>
        </p:spPr>
      </p:pic>
      <p:sp>
        <p:nvSpPr>
          <p:cNvPr id="12" name=""/>
          <p:cNvSpPr/>
          <p:nvPr/>
        </p:nvSpPr>
        <p:spPr>
          <a:xfrm>
            <a:off x="1842120" y="451800"/>
            <a:ext cx="426240" cy="192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800" spc="-1" strike="noStrike">
                <a:solidFill>
                  <a:srgbClr val="ffffff"/>
                </a:solidFill>
                <a:latin typeface="DejaVu Sans"/>
                <a:ea typeface="DejaVu Sans"/>
              </a:rPr>
              <a:t>tsv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Line 2_ 1"/>
          <p:cNvSpPr/>
          <p:nvPr/>
        </p:nvSpPr>
        <p:spPr>
          <a:xfrm>
            <a:off x="3621600" y="1124640"/>
            <a:ext cx="549360" cy="7200"/>
          </a:xfrm>
          <a:prstGeom prst="line">
            <a:avLst/>
          </a:prstGeom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5880" rIns="65880" tIns="-24120" bIns="-24120" anchor="t" anchorCtr="1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" name="Line 2_ 3"/>
          <p:cNvSpPr/>
          <p:nvPr/>
        </p:nvSpPr>
        <p:spPr>
          <a:xfrm>
            <a:off x="4170960" y="1131840"/>
            <a:ext cx="5400" cy="617400"/>
          </a:xfrm>
          <a:prstGeom prst="line">
            <a:avLst/>
          </a:prstGeom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5880" rIns="65880" tIns="-24120" bIns="-24120" anchor="t" anchorCtr="1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" name="CustomShape 60_ 5"/>
          <p:cNvSpPr/>
          <p:nvPr/>
        </p:nvSpPr>
        <p:spPr>
          <a:xfrm flipV="1" rot="1800">
            <a:off x="4029120" y="1668600"/>
            <a:ext cx="276840" cy="107640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1880" bIns="11880" anchor="t">
            <a:noAutofit/>
          </a:bodyPr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6" name="" descr=""/>
          <p:cNvPicPr/>
          <p:nvPr/>
        </p:nvPicPr>
        <p:blipFill>
          <a:blip r:embed="rId3"/>
          <a:stretch/>
        </p:blipFill>
        <p:spPr>
          <a:xfrm>
            <a:off x="3636360" y="1958400"/>
            <a:ext cx="429480" cy="429480"/>
          </a:xfrm>
          <a:prstGeom prst="rect">
            <a:avLst/>
          </a:prstGeom>
          <a:ln w="0">
            <a:noFill/>
          </a:ln>
        </p:spPr>
      </p:pic>
      <p:sp>
        <p:nvSpPr>
          <p:cNvPr id="17" name=""/>
          <p:cNvSpPr/>
          <p:nvPr/>
        </p:nvSpPr>
        <p:spPr>
          <a:xfrm>
            <a:off x="3636360" y="2122920"/>
            <a:ext cx="426240" cy="192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800" spc="-1" strike="noStrike">
                <a:solidFill>
                  <a:srgbClr val="ffffff"/>
                </a:solidFill>
                <a:latin typeface="DejaVu Sans"/>
                <a:ea typeface="DejaVu Sans"/>
              </a:rPr>
              <a:t>py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4051800" y="2058120"/>
            <a:ext cx="2615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GenomicBasedClassification.py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7075800" y="906120"/>
            <a:ext cx="14310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features 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" descr=""/>
          <p:cNvPicPr/>
          <p:nvPr/>
        </p:nvPicPr>
        <p:blipFill>
          <a:blip r:embed="rId4"/>
          <a:stretch/>
        </p:blipFill>
        <p:spPr>
          <a:xfrm>
            <a:off x="6624000" y="806040"/>
            <a:ext cx="429480" cy="429480"/>
          </a:xfrm>
          <a:prstGeom prst="rect">
            <a:avLst/>
          </a:prstGeom>
          <a:ln w="0">
            <a:noFill/>
          </a:ln>
        </p:spPr>
      </p:pic>
      <p:sp>
        <p:nvSpPr>
          <p:cNvPr id="21" name=""/>
          <p:cNvSpPr/>
          <p:nvPr/>
        </p:nvSpPr>
        <p:spPr>
          <a:xfrm>
            <a:off x="6624000" y="970560"/>
            <a:ext cx="426240" cy="192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800" spc="-1" strike="noStrike">
                <a:solidFill>
                  <a:srgbClr val="ffffff"/>
                </a:solidFill>
                <a:latin typeface="DejaVu Sans"/>
                <a:ea typeface="DejaVu Sans"/>
              </a:rPr>
              <a:t>obj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7076160" y="1410480"/>
            <a:ext cx="15811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feature encoder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" name="" descr=""/>
          <p:cNvPicPr/>
          <p:nvPr/>
        </p:nvPicPr>
        <p:blipFill>
          <a:blip r:embed="rId5"/>
          <a:stretch/>
        </p:blipFill>
        <p:spPr>
          <a:xfrm>
            <a:off x="6624360" y="1310400"/>
            <a:ext cx="429480" cy="429480"/>
          </a:xfrm>
          <a:prstGeom prst="rect">
            <a:avLst/>
          </a:prstGeom>
          <a:ln w="0">
            <a:noFill/>
          </a:ln>
        </p:spPr>
      </p:pic>
      <p:sp>
        <p:nvSpPr>
          <p:cNvPr id="24" name=""/>
          <p:cNvSpPr/>
          <p:nvPr/>
        </p:nvSpPr>
        <p:spPr>
          <a:xfrm>
            <a:off x="6624360" y="1474920"/>
            <a:ext cx="426240" cy="192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800" spc="-1" strike="noStrike">
                <a:solidFill>
                  <a:srgbClr val="ffffff"/>
                </a:solidFill>
                <a:latin typeface="DejaVu Sans"/>
                <a:ea typeface="DejaVu Sans"/>
              </a:rPr>
              <a:t>obj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7084080" y="1928520"/>
            <a:ext cx="9198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model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" descr=""/>
          <p:cNvPicPr/>
          <p:nvPr/>
        </p:nvPicPr>
        <p:blipFill>
          <a:blip r:embed="rId6"/>
          <a:stretch/>
        </p:blipFill>
        <p:spPr>
          <a:xfrm>
            <a:off x="6632280" y="1828440"/>
            <a:ext cx="429480" cy="429480"/>
          </a:xfrm>
          <a:prstGeom prst="rect">
            <a:avLst/>
          </a:prstGeom>
          <a:ln w="0">
            <a:noFill/>
          </a:ln>
        </p:spPr>
      </p:pic>
      <p:sp>
        <p:nvSpPr>
          <p:cNvPr id="27" name=""/>
          <p:cNvSpPr/>
          <p:nvPr/>
        </p:nvSpPr>
        <p:spPr>
          <a:xfrm>
            <a:off x="6632280" y="1992960"/>
            <a:ext cx="426240" cy="192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800" spc="-1" strike="noStrike">
                <a:solidFill>
                  <a:srgbClr val="ffffff"/>
                </a:solidFill>
                <a:latin typeface="DejaVu Sans"/>
                <a:ea typeface="DejaVu Sans"/>
              </a:rPr>
              <a:t>obj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7075800" y="330840"/>
            <a:ext cx="1245600" cy="4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genomic profils for prediction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7"/>
          <a:stretch/>
        </p:blipFill>
        <p:spPr>
          <a:xfrm>
            <a:off x="6624000" y="302760"/>
            <a:ext cx="429480" cy="429480"/>
          </a:xfrm>
          <a:prstGeom prst="rect">
            <a:avLst/>
          </a:prstGeom>
          <a:ln w="0">
            <a:noFill/>
          </a:ln>
        </p:spPr>
      </p:pic>
      <p:sp>
        <p:nvSpPr>
          <p:cNvPr id="30" name=""/>
          <p:cNvSpPr/>
          <p:nvPr/>
        </p:nvSpPr>
        <p:spPr>
          <a:xfrm>
            <a:off x="6624000" y="467280"/>
            <a:ext cx="426240" cy="192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800" spc="-1" strike="noStrike">
                <a:solidFill>
                  <a:srgbClr val="ffffff"/>
                </a:solidFill>
                <a:latin typeface="DejaVu Sans"/>
                <a:ea typeface="DejaVu Sans"/>
              </a:rPr>
              <a:t>tsv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Line 2_ 4"/>
          <p:cNvSpPr/>
          <p:nvPr/>
        </p:nvSpPr>
        <p:spPr>
          <a:xfrm>
            <a:off x="6465600" y="172440"/>
            <a:ext cx="360" cy="2120040"/>
          </a:xfrm>
          <a:prstGeom prst="line">
            <a:avLst/>
          </a:prstGeom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5880" rIns="65880" tIns="-24120" bIns="-24120" anchor="t" anchorCtr="1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" name="Line 2_ 5"/>
          <p:cNvSpPr/>
          <p:nvPr/>
        </p:nvSpPr>
        <p:spPr>
          <a:xfrm>
            <a:off x="5899320" y="1132200"/>
            <a:ext cx="566280" cy="3240"/>
          </a:xfrm>
          <a:prstGeom prst="line">
            <a:avLst/>
          </a:prstGeom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5880" rIns="65880" tIns="-24120" bIns="-24120" anchor="t" anchorCtr="1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" name="Line 2_ 7"/>
          <p:cNvSpPr/>
          <p:nvPr/>
        </p:nvSpPr>
        <p:spPr>
          <a:xfrm flipH="1">
            <a:off x="8596800" y="834480"/>
            <a:ext cx="1080" cy="1424880"/>
          </a:xfrm>
          <a:prstGeom prst="line">
            <a:avLst/>
          </a:prstGeom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5880" rIns="65880" tIns="-24120" bIns="-24120" anchor="t" anchorCtr="1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" name="CustomShape 64_ 7"/>
          <p:cNvSpPr/>
          <p:nvPr/>
        </p:nvSpPr>
        <p:spPr>
          <a:xfrm flipH="1" rot="16180800">
            <a:off x="8511840" y="1467000"/>
            <a:ext cx="276480" cy="100440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80" bIns="8280" anchor="t">
            <a:noAutofit/>
          </a:bodyPr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" name="Line 2_ 8"/>
          <p:cNvSpPr/>
          <p:nvPr/>
        </p:nvSpPr>
        <p:spPr>
          <a:xfrm>
            <a:off x="8652240" y="1524240"/>
            <a:ext cx="428400" cy="360"/>
          </a:xfrm>
          <a:prstGeom prst="line">
            <a:avLst/>
          </a:prstGeom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5880" rIns="65880" tIns="-24120" bIns="-24120" anchor="t" anchorCtr="1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" name="Line 2_ 9"/>
          <p:cNvSpPr/>
          <p:nvPr/>
        </p:nvSpPr>
        <p:spPr>
          <a:xfrm>
            <a:off x="9080640" y="1531440"/>
            <a:ext cx="360" cy="5720400"/>
          </a:xfrm>
          <a:prstGeom prst="line">
            <a:avLst/>
          </a:prstGeom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5880" rIns="65880" tIns="-24120" bIns="-24120" anchor="t" anchorCtr="1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7" name=""/>
          <p:cNvSpPr/>
          <p:nvPr/>
        </p:nvSpPr>
        <p:spPr>
          <a:xfrm>
            <a:off x="1920960" y="2562120"/>
            <a:ext cx="31161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Modeling including training and testing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278680" y="2562120"/>
            <a:ext cx="31161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Prediction based on a pre-built model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2153160" y="2991240"/>
            <a:ext cx="2675880" cy="806040"/>
          </a:xfrm>
          <a:prstGeom prst="downArrowCallout">
            <a:avLst>
              <a:gd name="adj1" fmla="val 58341"/>
              <a:gd name="adj2" fmla="val 29262"/>
              <a:gd name="adj3" fmla="val 12900"/>
              <a:gd name="adj4" fmla="val 76036"/>
            </a:avLst>
          </a:prstGeom>
          <a:noFill/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" name=""/>
          <p:cNvSpPr/>
          <p:nvPr/>
        </p:nvSpPr>
        <p:spPr>
          <a:xfrm>
            <a:off x="2153160" y="2955240"/>
            <a:ext cx="2675880" cy="63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1200" spc="-1" strike="noStrike">
                <a:solidFill>
                  <a:srgbClr val="000000"/>
                </a:solidFill>
                <a:latin typeface="Arial"/>
                <a:ea typeface="DejaVu Sans"/>
              </a:rPr>
              <a:t>Argument management + splitting + data management </a:t>
            </a:r>
            <a:r>
              <a:rPr b="0" lang="it-IT" sz="1200" spc="-1" strike="noStrike">
                <a:solidFill>
                  <a:srgbClr val="000000"/>
                </a:solidFill>
                <a:latin typeface="Arial"/>
                <a:ea typeface="DejaVu Sans"/>
              </a:rPr>
              <a:t>argparse + numpy + pandas + imbalanced-learn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2110320" y="3783240"/>
            <a:ext cx="274824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1200" spc="-1" strike="noStrike">
                <a:solidFill>
                  <a:srgbClr val="000000"/>
                </a:solidFill>
                <a:latin typeface="Arial"/>
                <a:ea typeface="DejaVu Sans"/>
              </a:rPr>
              <a:t>One-hot encoding + 5 feature selection methods + 20 classifiers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it-IT" sz="1200" spc="-1" strike="noStrike">
                <a:solidFill>
                  <a:srgbClr val="000000"/>
                </a:solidFill>
                <a:latin typeface="Arial"/>
                <a:ea typeface="DejaVu Sans"/>
              </a:rPr>
              <a:t>sklearn </a:t>
            </a:r>
            <a:r>
              <a:rPr b="0" lang="it-IT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+ catboost + lightgbm + xgboost </a:t>
            </a:r>
            <a:r>
              <a:rPr b="0" lang="it-IT" sz="1200" spc="-1" strike="noStrike">
                <a:solidFill>
                  <a:srgbClr val="000000"/>
                </a:solidFill>
                <a:latin typeface="Arial"/>
                <a:ea typeface="DejaVu Sans"/>
              </a:rPr>
              <a:t>+ joblib + tqdm + </a:t>
            </a:r>
            <a:r>
              <a:rPr b="0" lang="it-IT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tqdm_joblib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2153160" y="4809600"/>
            <a:ext cx="2667240" cy="756000"/>
          </a:xfrm>
          <a:prstGeom prst="rect">
            <a:avLst/>
          </a:prstGeom>
          <a:noFill/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680" rIns="94680" tIns="49680" bIns="49680" anchor="ctr">
            <a:noAutofit/>
          </a:bodyPr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" name=""/>
          <p:cNvSpPr/>
          <p:nvPr/>
        </p:nvSpPr>
        <p:spPr>
          <a:xfrm>
            <a:off x="2153160" y="3819240"/>
            <a:ext cx="2675880" cy="988200"/>
          </a:xfrm>
          <a:prstGeom prst="downArrowCallout">
            <a:avLst>
              <a:gd name="adj1" fmla="val 58341"/>
              <a:gd name="adj2" fmla="val 29262"/>
              <a:gd name="adj3" fmla="val 12900"/>
              <a:gd name="adj4" fmla="val 76036"/>
            </a:avLst>
          </a:prstGeom>
          <a:noFill/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" name=""/>
          <p:cNvSpPr/>
          <p:nvPr/>
        </p:nvSpPr>
        <p:spPr>
          <a:xfrm>
            <a:off x="2182320" y="4791240"/>
            <a:ext cx="260208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Performance + feature and permutation importances + prediction + p-values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it-IT" sz="1200" spc="-1" strike="noStrike">
                <a:solidFill>
                  <a:srgbClr val="000000"/>
                </a:solidFill>
                <a:latin typeface="Arial"/>
                <a:ea typeface="DejaVu Sans"/>
              </a:rPr>
              <a:t>sklearn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5501160" y="2990880"/>
            <a:ext cx="2675880" cy="806040"/>
          </a:xfrm>
          <a:prstGeom prst="downArrowCallout">
            <a:avLst>
              <a:gd name="adj1" fmla="val 58341"/>
              <a:gd name="adj2" fmla="val 29262"/>
              <a:gd name="adj3" fmla="val 12900"/>
              <a:gd name="adj4" fmla="val 76036"/>
            </a:avLst>
          </a:prstGeom>
          <a:noFill/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" name=""/>
          <p:cNvSpPr/>
          <p:nvPr/>
        </p:nvSpPr>
        <p:spPr>
          <a:xfrm>
            <a:off x="5501160" y="2954880"/>
            <a:ext cx="267588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1200" spc="-1" strike="noStrike">
                <a:solidFill>
                  <a:srgbClr val="000000"/>
                </a:solidFill>
                <a:latin typeface="Arial"/>
                <a:ea typeface="DejaVu Sans"/>
              </a:rPr>
              <a:t>Argument management + data management </a:t>
            </a:r>
            <a:r>
              <a:rPr b="0" lang="it-IT" sz="1200" spc="-1" strike="noStrike">
                <a:solidFill>
                  <a:srgbClr val="000000"/>
                </a:solidFill>
                <a:latin typeface="Arial"/>
                <a:ea typeface="DejaVu Sans"/>
              </a:rPr>
              <a:t>argparse + numpy + pandas + imbalanced-learn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5566320" y="3926880"/>
            <a:ext cx="25412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1200" spc="-1" strike="noStrike">
                <a:solidFill>
                  <a:srgbClr val="000000"/>
                </a:solidFill>
                <a:latin typeface="Arial"/>
                <a:ea typeface="DejaVu Sans"/>
              </a:rPr>
              <a:t>One-hot encoding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it-IT" sz="1200" spc="-1" strike="noStrike">
                <a:solidFill>
                  <a:srgbClr val="000000"/>
                </a:solidFill>
                <a:latin typeface="Arial"/>
                <a:ea typeface="DejaVu Sans"/>
              </a:rPr>
              <a:t>sklearn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5501160" y="4778640"/>
            <a:ext cx="2667240" cy="793440"/>
          </a:xfrm>
          <a:prstGeom prst="rect">
            <a:avLst/>
          </a:prstGeom>
          <a:noFill/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680" rIns="94680" tIns="49680" bIns="49680" anchor="ctr">
            <a:noAutofit/>
          </a:bodyPr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" name=""/>
          <p:cNvSpPr/>
          <p:nvPr/>
        </p:nvSpPr>
        <p:spPr>
          <a:xfrm>
            <a:off x="5501160" y="3835080"/>
            <a:ext cx="2675880" cy="941400"/>
          </a:xfrm>
          <a:prstGeom prst="downArrowCallout">
            <a:avLst>
              <a:gd name="adj1" fmla="val 58341"/>
              <a:gd name="adj2" fmla="val 29262"/>
              <a:gd name="adj3" fmla="val 12900"/>
              <a:gd name="adj4" fmla="val 76036"/>
            </a:avLst>
          </a:prstGeom>
          <a:noFill/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" name=""/>
          <p:cNvSpPr/>
          <p:nvPr/>
        </p:nvSpPr>
        <p:spPr>
          <a:xfrm>
            <a:off x="1935000" y="2834640"/>
            <a:ext cx="3103920" cy="2881800"/>
          </a:xfrm>
          <a:prstGeom prst="rect">
            <a:avLst/>
          </a:prstGeom>
          <a:noFill/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680" rIns="94680" tIns="49680" bIns="49680" anchor="ctr">
            <a:noAutofit/>
          </a:bodyPr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" name=""/>
          <p:cNvSpPr/>
          <p:nvPr/>
        </p:nvSpPr>
        <p:spPr>
          <a:xfrm>
            <a:off x="5283000" y="2834640"/>
            <a:ext cx="3103920" cy="2872080"/>
          </a:xfrm>
          <a:prstGeom prst="rect">
            <a:avLst/>
          </a:prstGeom>
          <a:noFill/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680" rIns="94680" tIns="49680" bIns="49680" anchor="ctr">
            <a:noAutofit/>
          </a:bodyPr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" name=""/>
          <p:cNvSpPr/>
          <p:nvPr/>
        </p:nvSpPr>
        <p:spPr>
          <a:xfrm>
            <a:off x="1744560" y="2474640"/>
            <a:ext cx="6833520" cy="3402360"/>
          </a:xfrm>
          <a:prstGeom prst="rect">
            <a:avLst/>
          </a:prstGeom>
          <a:noFill/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680" rIns="94680" tIns="49680" bIns="49680" anchor="ctr">
            <a:noAutofit/>
          </a:bodyPr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3" name=""/>
          <p:cNvSpPr/>
          <p:nvPr/>
        </p:nvSpPr>
        <p:spPr>
          <a:xfrm>
            <a:off x="4927320" y="6022080"/>
            <a:ext cx="933840" cy="56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metrics and/or prediction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8"/>
          <a:stretch/>
        </p:blipFill>
        <p:spPr>
          <a:xfrm>
            <a:off x="4475520" y="6102000"/>
            <a:ext cx="429480" cy="429480"/>
          </a:xfrm>
          <a:prstGeom prst="rect">
            <a:avLst/>
          </a:prstGeom>
          <a:ln w="0">
            <a:noFill/>
          </a:ln>
        </p:spPr>
      </p:pic>
      <p:sp>
        <p:nvSpPr>
          <p:cNvPr id="55" name=""/>
          <p:cNvSpPr/>
          <p:nvPr/>
        </p:nvSpPr>
        <p:spPr>
          <a:xfrm>
            <a:off x="4475520" y="6266520"/>
            <a:ext cx="426240" cy="192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800" spc="-1" strike="noStrike">
                <a:solidFill>
                  <a:srgbClr val="ffffff"/>
                </a:solidFill>
                <a:latin typeface="DejaVu Sans"/>
                <a:ea typeface="DejaVu Sans"/>
              </a:rPr>
              <a:t>tsv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4927680" y="6742440"/>
            <a:ext cx="6390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log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" descr=""/>
          <p:cNvPicPr/>
          <p:nvPr/>
        </p:nvPicPr>
        <p:blipFill>
          <a:blip r:embed="rId9"/>
          <a:stretch/>
        </p:blipFill>
        <p:spPr>
          <a:xfrm>
            <a:off x="4475880" y="6606360"/>
            <a:ext cx="429480" cy="429480"/>
          </a:xfrm>
          <a:prstGeom prst="rect">
            <a:avLst/>
          </a:prstGeom>
          <a:ln w="0">
            <a:noFill/>
          </a:ln>
        </p:spPr>
      </p:pic>
      <p:sp>
        <p:nvSpPr>
          <p:cNvPr id="58" name=""/>
          <p:cNvSpPr/>
          <p:nvPr/>
        </p:nvSpPr>
        <p:spPr>
          <a:xfrm>
            <a:off x="4475880" y="6770880"/>
            <a:ext cx="426240" cy="192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800" spc="-1" strike="noStrike">
                <a:solidFill>
                  <a:srgbClr val="ffffff"/>
                </a:solidFill>
                <a:latin typeface="DejaVu Sans"/>
                <a:ea typeface="DejaVu Sans"/>
              </a:rPr>
              <a:t>txt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Line 2_ 10"/>
          <p:cNvSpPr/>
          <p:nvPr/>
        </p:nvSpPr>
        <p:spPr>
          <a:xfrm>
            <a:off x="4245840" y="6076440"/>
            <a:ext cx="360" cy="959400"/>
          </a:xfrm>
          <a:prstGeom prst="line">
            <a:avLst/>
          </a:prstGeom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5880" rIns="65880" tIns="-24120" bIns="-24120" anchor="t" anchorCtr="1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" name="Line 2_ 11"/>
          <p:cNvSpPr/>
          <p:nvPr/>
        </p:nvSpPr>
        <p:spPr>
          <a:xfrm>
            <a:off x="5793840" y="6076800"/>
            <a:ext cx="360" cy="959400"/>
          </a:xfrm>
          <a:prstGeom prst="line">
            <a:avLst/>
          </a:prstGeom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5880" rIns="65880" tIns="-24120" bIns="-24120" anchor="t" anchorCtr="1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" name="Line 2_ 12"/>
          <p:cNvSpPr/>
          <p:nvPr/>
        </p:nvSpPr>
        <p:spPr>
          <a:xfrm flipH="1">
            <a:off x="3467160" y="5889960"/>
            <a:ext cx="4320" cy="1361880"/>
          </a:xfrm>
          <a:prstGeom prst="line">
            <a:avLst/>
          </a:prstGeom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5880" rIns="65880" tIns="-24120" bIns="-24120" anchor="t" anchorCtr="1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" name="Line 2_ 13"/>
          <p:cNvSpPr/>
          <p:nvPr/>
        </p:nvSpPr>
        <p:spPr>
          <a:xfrm>
            <a:off x="3467160" y="7251840"/>
            <a:ext cx="5613480" cy="360"/>
          </a:xfrm>
          <a:prstGeom prst="line">
            <a:avLst/>
          </a:prstGeom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5880" rIns="65880" tIns="-24120" bIns="-24120" anchor="t" anchorCtr="1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" name="CustomShape 64_ 5"/>
          <p:cNvSpPr/>
          <p:nvPr/>
        </p:nvSpPr>
        <p:spPr>
          <a:xfrm flipV="1" rot="16180800">
            <a:off x="4052520" y="6504840"/>
            <a:ext cx="276480" cy="100440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80" bIns="8280" anchor="t">
            <a:noAutofit/>
          </a:bodyPr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4" name="CustomShape 64_ 1"/>
          <p:cNvSpPr/>
          <p:nvPr/>
        </p:nvSpPr>
        <p:spPr>
          <a:xfrm flipH="1" rot="16180800">
            <a:off x="5703840" y="6507000"/>
            <a:ext cx="276480" cy="100440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80" bIns="8280" anchor="t">
            <a:noAutofit/>
          </a:bodyPr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5" name="Line 2_ 14"/>
          <p:cNvSpPr/>
          <p:nvPr/>
        </p:nvSpPr>
        <p:spPr>
          <a:xfrm>
            <a:off x="3477600" y="6560640"/>
            <a:ext cx="658080" cy="5400"/>
          </a:xfrm>
          <a:prstGeom prst="line">
            <a:avLst/>
          </a:prstGeom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5880" rIns="65880" tIns="-24120" bIns="-24120" anchor="t" anchorCtr="1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6" name="Line 2_ 15"/>
          <p:cNvSpPr/>
          <p:nvPr/>
        </p:nvSpPr>
        <p:spPr>
          <a:xfrm>
            <a:off x="5889600" y="6561000"/>
            <a:ext cx="677880" cy="5400"/>
          </a:xfrm>
          <a:prstGeom prst="line">
            <a:avLst/>
          </a:prstGeom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5880" rIns="65880" tIns="-24120" bIns="-24120" anchor="t" anchorCtr="1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" name="Line 2_ 16"/>
          <p:cNvSpPr/>
          <p:nvPr/>
        </p:nvSpPr>
        <p:spPr>
          <a:xfrm flipH="1">
            <a:off x="6563160" y="5890320"/>
            <a:ext cx="4320" cy="676080"/>
          </a:xfrm>
          <a:prstGeom prst="line">
            <a:avLst/>
          </a:prstGeom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5880" rIns="65880" tIns="-24120" bIns="-24120" anchor="t" anchorCtr="1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8" name=""/>
          <p:cNvSpPr/>
          <p:nvPr/>
        </p:nvSpPr>
        <p:spPr>
          <a:xfrm>
            <a:off x="3763800" y="834120"/>
            <a:ext cx="6073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Input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815800" y="834120"/>
            <a:ext cx="60948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Input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Line 2_ 17"/>
          <p:cNvSpPr/>
          <p:nvPr/>
        </p:nvSpPr>
        <p:spPr>
          <a:xfrm>
            <a:off x="5899320" y="1132200"/>
            <a:ext cx="5400" cy="617400"/>
          </a:xfrm>
          <a:prstGeom prst="line">
            <a:avLst/>
          </a:prstGeom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5880" rIns="65880" tIns="-24120" bIns="-24120" anchor="t" anchorCtr="1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" name="CustomShape 60_ 1"/>
          <p:cNvSpPr/>
          <p:nvPr/>
        </p:nvSpPr>
        <p:spPr>
          <a:xfrm flipV="1" rot="1800">
            <a:off x="5757480" y="1668960"/>
            <a:ext cx="276840" cy="107640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1880" bIns="11880" anchor="t">
            <a:noAutofit/>
          </a:bodyPr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" name=""/>
          <p:cNvSpPr/>
          <p:nvPr/>
        </p:nvSpPr>
        <p:spPr>
          <a:xfrm>
            <a:off x="3532680" y="6234120"/>
            <a:ext cx="7664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Output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3532680" y="6954120"/>
            <a:ext cx="7664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Output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5908680" y="6234120"/>
            <a:ext cx="7664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Output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523880" y="110520"/>
            <a:ext cx="7717680" cy="7313040"/>
          </a:xfrm>
          <a:prstGeom prst="rect">
            <a:avLst/>
          </a:prstGeom>
          <a:noFill/>
          <a:ln w="9000">
            <a:noFill/>
          </a:ln>
        </p:spPr>
        <p:style>
          <a:lnRef idx="0"/>
          <a:fillRef idx="0"/>
          <a:effectRef idx="0"/>
          <a:fontRef idx="minor"/>
        </p:style>
        <p:txBody>
          <a:bodyPr lIns="94680" rIns="94680" tIns="49680" bIns="49680" anchor="ctr">
            <a:noAutofit/>
          </a:bodyPr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6" name=""/>
          <p:cNvSpPr/>
          <p:nvPr/>
        </p:nvSpPr>
        <p:spPr>
          <a:xfrm>
            <a:off x="5602320" y="4917240"/>
            <a:ext cx="254124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Prediction + p-values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it-IT" sz="1200" spc="-1" strike="noStrike">
                <a:solidFill>
                  <a:srgbClr val="000000"/>
                </a:solidFill>
                <a:latin typeface="Arial"/>
                <a:ea typeface="DejaVu Sans"/>
              </a:rPr>
              <a:t>sklearn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2325240" y="1338120"/>
            <a:ext cx="1300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tuning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000" spc="-1" strike="noStrike">
                <a:solidFill>
                  <a:srgbClr val="000000"/>
                </a:solidFill>
                <a:latin typeface="DejaVu Sans"/>
                <a:ea typeface="DejaVu Sans"/>
              </a:rPr>
              <a:t>parameters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0"/>
          <a:stretch/>
        </p:blipFill>
        <p:spPr>
          <a:xfrm>
            <a:off x="1837440" y="1310040"/>
            <a:ext cx="429480" cy="429480"/>
          </a:xfrm>
          <a:prstGeom prst="rect">
            <a:avLst/>
          </a:prstGeom>
          <a:ln w="0">
            <a:noFill/>
          </a:ln>
        </p:spPr>
      </p:pic>
      <p:sp>
        <p:nvSpPr>
          <p:cNvPr id="79" name=""/>
          <p:cNvSpPr/>
          <p:nvPr/>
        </p:nvSpPr>
        <p:spPr>
          <a:xfrm>
            <a:off x="1837440" y="1474560"/>
            <a:ext cx="426240" cy="192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it-IT" sz="800" spc="-1" strike="noStrike">
                <a:solidFill>
                  <a:srgbClr val="ffffff"/>
                </a:solidFill>
                <a:latin typeface="DejaVu Sans"/>
                <a:ea typeface="DejaVu Sans"/>
              </a:rPr>
              <a:t>txt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Line 2_ 6"/>
          <p:cNvSpPr/>
          <p:nvPr/>
        </p:nvSpPr>
        <p:spPr>
          <a:xfrm>
            <a:off x="3621960" y="172800"/>
            <a:ext cx="360" cy="1671120"/>
          </a:xfrm>
          <a:prstGeom prst="line">
            <a:avLst/>
          </a:prstGeom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5880" rIns="65880" tIns="-24120" bIns="-24120" anchor="t" anchorCtr="1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</TotalTime>
  <Application>LibreOffice/7.6.7.2$Linux_X86_64 LibreOffice_project/60$Build-2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2025-03-10T09:52:02Z</dcterms:created>
  <dc:creator>Nicolas Radomski</dc:creator>
  <dc:description/>
  <dc:language>en-US</dc:language>
  <cp:lastModifiedBy>Nicolas Radomski</cp:lastModifiedBy>
  <cp:lastPrinted>2025-07-09T10:30:31Z</cp:lastPrinted>
  <dcterms:modified xsi:type="dcterms:W3CDTF">2025-12-02T09:58:42Z</dcterms:modified>
  <cp:revision>63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